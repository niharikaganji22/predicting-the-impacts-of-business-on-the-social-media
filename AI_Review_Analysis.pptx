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6858000" cy="9144000"/>
  <p:embeddedFontLst>
    <p:embeddedFont>
      <p:font typeface="ADLaM Display" panose="02010000000000000000" pitchFamily="2" charset="0"/>
      <p:regular r:id="rId11"/>
    </p:embeddedFont>
    <p:embeddedFont>
      <p:font typeface="Perpetua Titling MT" panose="02020502060505020804" pitchFamily="18" charset="0"/>
      <p:regular r:id="rId12"/>
      <p:bold r:id="rId13"/>
    </p:embeddedFont>
    <p:embeddedFont>
      <p:font typeface="Roboto" panose="02000000000000000000" pitchFamily="2" charset="0"/>
      <p:regular r:id="rId14"/>
      <p:bold r:id="rId15"/>
      <p:italic r:id="rId16"/>
      <p:boldItalic r:id="rId1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8" d="100"/>
          <a:sy n="78" d="100"/>
        </p:scale>
        <p:origin x="940" y="3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font" Target="fonts/font5.fntdata"/><Relationship Id="rId10" Type="http://schemas.openxmlformats.org/officeDocument/2006/relationships/notesMaster" Target="notesMasters/notesMaster1.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c6f73a04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c6f73a04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c6f73a04f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c6f73a04f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c6f73a04f_0_14: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c6f73a04f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c6f73a04f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c6f73a04f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2791b21973a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2791b21973a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2791b21973a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2791b21973a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2791b21973a_0_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2791b21973a_0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c6f73a04f_0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c6f73a04f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p:nvPr/>
        </p:nvSpPr>
        <p:spPr>
          <a:xfrm flipH="1">
            <a:off x="8246400" y="4245925"/>
            <a:ext cx="897600" cy="897600"/>
          </a:xfrm>
          <a:prstGeom prst="rtTriangl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flipH="1">
            <a:off x="8246400" y="4245875"/>
            <a:ext cx="897600" cy="897600"/>
          </a:xfrm>
          <a:prstGeom prst="round1Rect">
            <a:avLst>
              <a:gd name="adj" fmla="val 16667"/>
            </a:avLst>
          </a:prstGeom>
          <a:solidFill>
            <a:schemeClr val="lt1">
              <a:alpha val="680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txBox="1">
            <a:spLocks noGrp="1"/>
          </p:cNvSpPr>
          <p:nvPr>
            <p:ph type="ctrTitle"/>
          </p:nvPr>
        </p:nvSpPr>
        <p:spPr>
          <a:xfrm>
            <a:off x="390525" y="1819275"/>
            <a:ext cx="8222100" cy="933600"/>
          </a:xfrm>
          <a:prstGeom prst="rect">
            <a:avLst/>
          </a:prstGeom>
        </p:spPr>
        <p:txBody>
          <a:bodyPr spcFirstLastPara="1" wrap="square" lIns="91425" tIns="91425" rIns="91425" bIns="91425" anchor="b"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13" name="Google Shape;13;p2"/>
          <p:cNvSpPr txBox="1">
            <a:spLocks noGrp="1"/>
          </p:cNvSpPr>
          <p:nvPr>
            <p:ph type="subTitle" idx="1"/>
          </p:nvPr>
        </p:nvSpPr>
        <p:spPr>
          <a:xfrm>
            <a:off x="390525" y="2789130"/>
            <a:ext cx="8222100" cy="4329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a:endParaRPr/>
          </a:p>
        </p:txBody>
      </p:sp>
      <p:sp>
        <p:nvSpPr>
          <p:cNvPr id="14" name="Google Shape;14;p2"/>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5"/>
        <p:cNvGrpSpPr/>
        <p:nvPr/>
      </p:nvGrpSpPr>
      <p:grpSpPr>
        <a:xfrm>
          <a:off x="0" y="0"/>
          <a:ext cx="0" cy="0"/>
          <a:chOff x="0" y="0"/>
          <a:chExt cx="0" cy="0"/>
        </a:xfrm>
      </p:grpSpPr>
      <p:sp>
        <p:nvSpPr>
          <p:cNvPr id="16" name="Google Shape;16;p3"/>
          <p:cNvSpPr txBox="1">
            <a:spLocks noGrp="1"/>
          </p:cNvSpPr>
          <p:nvPr>
            <p:ph type="title"/>
          </p:nvPr>
        </p:nvSpPr>
        <p:spPr>
          <a:xfrm>
            <a:off x="460950" y="2065350"/>
            <a:ext cx="8222100" cy="1012800"/>
          </a:xfrm>
          <a:prstGeom prst="rect">
            <a:avLst/>
          </a:prstGeom>
        </p:spPr>
        <p:txBody>
          <a:bodyPr spcFirstLastPara="1" wrap="square" lIns="91425" tIns="91425" rIns="91425" bIns="91425" anchor="ctr" anchorCtr="0">
            <a:no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a:endParaRPr/>
          </a:p>
        </p:txBody>
      </p:sp>
      <p:sp>
        <p:nvSpPr>
          <p:cNvPr id="17" name="Google Shape;17;p3"/>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8"/>
        <p:cNvGrpSpPr/>
        <p:nvPr/>
      </p:nvGrpSpPr>
      <p:grpSpPr>
        <a:xfrm>
          <a:off x="0" y="0"/>
          <a:ext cx="0" cy="0"/>
          <a:chOff x="0" y="0"/>
          <a:chExt cx="0" cy="0"/>
        </a:xfrm>
      </p:grpSpPr>
      <p:sp>
        <p:nvSpPr>
          <p:cNvPr id="19" name="Google Shape;19;p4"/>
          <p:cNvSpPr/>
          <p:nvPr/>
        </p:nvSpPr>
        <p:spPr>
          <a:xfrm rot="10800000" flipH="1">
            <a:off x="0" y="1686000"/>
            <a:ext cx="9144000" cy="3457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4"/>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4"/>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22" name="Google Shape;22;p4"/>
          <p:cNvSpPr txBox="1">
            <a:spLocks noGrp="1"/>
          </p:cNvSpPr>
          <p:nvPr>
            <p:ph type="body" idx="1"/>
          </p:nvPr>
        </p:nvSpPr>
        <p:spPr>
          <a:xfrm>
            <a:off x="471900" y="1919075"/>
            <a:ext cx="8222100" cy="27102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23" name="Google Shape;23;p4"/>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4"/>
        <p:cNvGrpSpPr/>
        <p:nvPr/>
      </p:nvGrpSpPr>
      <p:grpSpPr>
        <a:xfrm>
          <a:off x="0" y="0"/>
          <a:ext cx="0" cy="0"/>
          <a:chOff x="0" y="0"/>
          <a:chExt cx="0" cy="0"/>
        </a:xfrm>
      </p:grpSpPr>
      <p:sp>
        <p:nvSpPr>
          <p:cNvPr id="25" name="Google Shape;25;p5"/>
          <p:cNvSpPr/>
          <p:nvPr/>
        </p:nvSpPr>
        <p:spPr>
          <a:xfrm rot="10800000" flipH="1">
            <a:off x="0" y="1686000"/>
            <a:ext cx="9144000" cy="3457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5"/>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5"/>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28" name="Google Shape;28;p5"/>
          <p:cNvSpPr txBox="1">
            <a:spLocks noGrp="1"/>
          </p:cNvSpPr>
          <p:nvPr>
            <p:ph type="body" idx="1"/>
          </p:nvPr>
        </p:nvSpPr>
        <p:spPr>
          <a:xfrm>
            <a:off x="471900" y="1919075"/>
            <a:ext cx="3999900" cy="27102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9" name="Google Shape;29;p5"/>
          <p:cNvSpPr txBox="1">
            <a:spLocks noGrp="1"/>
          </p:cNvSpPr>
          <p:nvPr>
            <p:ph type="body" idx="2"/>
          </p:nvPr>
        </p:nvSpPr>
        <p:spPr>
          <a:xfrm>
            <a:off x="4694250" y="1919075"/>
            <a:ext cx="3999900" cy="27102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0" name="Google Shape;30;p5"/>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1"/>
        <p:cNvGrpSpPr/>
        <p:nvPr/>
      </p:nvGrpSpPr>
      <p:grpSpPr>
        <a:xfrm>
          <a:off x="0" y="0"/>
          <a:ext cx="0" cy="0"/>
          <a:chOff x="0" y="0"/>
          <a:chExt cx="0" cy="0"/>
        </a:xfrm>
      </p:grpSpPr>
      <p:sp>
        <p:nvSpPr>
          <p:cNvPr id="32" name="Google Shape;32;p6"/>
          <p:cNvSpPr/>
          <p:nvPr/>
        </p:nvSpPr>
        <p:spPr>
          <a:xfrm rot="10800000" flipH="1">
            <a:off x="0" y="656400"/>
            <a:ext cx="9144000" cy="44871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6"/>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6"/>
          <p:cNvSpPr txBox="1">
            <a:spLocks noGrp="1"/>
          </p:cNvSpPr>
          <p:nvPr>
            <p:ph type="title"/>
          </p:nvPr>
        </p:nvSpPr>
        <p:spPr>
          <a:xfrm>
            <a:off x="98250" y="16350"/>
            <a:ext cx="8826600" cy="602700"/>
          </a:xfrm>
          <a:prstGeom prst="rect">
            <a:avLst/>
          </a:prstGeom>
        </p:spPr>
        <p:txBody>
          <a:bodyPr spcFirstLastPara="1" wrap="square" lIns="91425" tIns="91425" rIns="91425" bIns="91425" anchor="ctr" anchorCtr="0">
            <a:no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35" name="Google Shape;35;p6"/>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6"/>
        <p:cNvGrpSpPr/>
        <p:nvPr/>
      </p:nvGrpSpPr>
      <p:grpSpPr>
        <a:xfrm>
          <a:off x="0" y="0"/>
          <a:ext cx="0" cy="0"/>
          <a:chOff x="0" y="0"/>
          <a:chExt cx="0" cy="0"/>
        </a:xfrm>
      </p:grpSpPr>
      <p:sp>
        <p:nvSpPr>
          <p:cNvPr id="37" name="Google Shape;37;p7"/>
          <p:cNvSpPr txBox="1"/>
          <p:nvPr/>
        </p:nvSpPr>
        <p:spPr>
          <a:xfrm rot="10800000" flipH="1">
            <a:off x="3276600" y="25"/>
            <a:ext cx="5867400" cy="5143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7"/>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7"/>
          <p:cNvSpPr txBox="1">
            <a:spLocks noGrp="1"/>
          </p:cNvSpPr>
          <p:nvPr>
            <p:ph type="title"/>
          </p:nvPr>
        </p:nvSpPr>
        <p:spPr>
          <a:xfrm>
            <a:off x="226078" y="357800"/>
            <a:ext cx="2808000" cy="9534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0" name="Google Shape;40;p7"/>
          <p:cNvSpPr txBox="1">
            <a:spLocks noGrp="1"/>
          </p:cNvSpPr>
          <p:nvPr>
            <p:ph type="body" idx="1"/>
          </p:nvPr>
        </p:nvSpPr>
        <p:spPr>
          <a:xfrm>
            <a:off x="226075" y="1465800"/>
            <a:ext cx="2808000" cy="3163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Clr>
                <a:schemeClr val="lt1"/>
              </a:buClr>
              <a:buSzPts val="1200"/>
              <a:buChar char="●"/>
              <a:defRPr sz="1200">
                <a:solidFill>
                  <a:schemeClr val="lt1"/>
                </a:solidFill>
              </a:defRPr>
            </a:lvl1pPr>
            <a:lvl2pPr marL="914400" lvl="1" indent="-304800">
              <a:spcBef>
                <a:spcPts val="1600"/>
              </a:spcBef>
              <a:spcAft>
                <a:spcPts val="0"/>
              </a:spcAft>
              <a:buClr>
                <a:schemeClr val="lt1"/>
              </a:buClr>
              <a:buSzPts val="1200"/>
              <a:buChar char="○"/>
              <a:defRPr sz="1200">
                <a:solidFill>
                  <a:schemeClr val="lt1"/>
                </a:solidFill>
              </a:defRPr>
            </a:lvl2pPr>
            <a:lvl3pPr marL="1371600" lvl="2" indent="-304800">
              <a:spcBef>
                <a:spcPts val="1600"/>
              </a:spcBef>
              <a:spcAft>
                <a:spcPts val="0"/>
              </a:spcAft>
              <a:buClr>
                <a:schemeClr val="lt1"/>
              </a:buClr>
              <a:buSzPts val="1200"/>
              <a:buChar char="■"/>
              <a:defRPr sz="1200">
                <a:solidFill>
                  <a:schemeClr val="lt1"/>
                </a:solidFill>
              </a:defRPr>
            </a:lvl3pPr>
            <a:lvl4pPr marL="1828800" lvl="3" indent="-304800">
              <a:spcBef>
                <a:spcPts val="1600"/>
              </a:spcBef>
              <a:spcAft>
                <a:spcPts val="0"/>
              </a:spcAft>
              <a:buClr>
                <a:schemeClr val="lt1"/>
              </a:buClr>
              <a:buSzPts val="1200"/>
              <a:buChar char="●"/>
              <a:defRPr sz="1200">
                <a:solidFill>
                  <a:schemeClr val="lt1"/>
                </a:solidFill>
              </a:defRPr>
            </a:lvl4pPr>
            <a:lvl5pPr marL="2286000" lvl="4" indent="-304800">
              <a:spcBef>
                <a:spcPts val="1600"/>
              </a:spcBef>
              <a:spcAft>
                <a:spcPts val="0"/>
              </a:spcAft>
              <a:buClr>
                <a:schemeClr val="lt1"/>
              </a:buClr>
              <a:buSzPts val="1200"/>
              <a:buChar char="○"/>
              <a:defRPr sz="1200">
                <a:solidFill>
                  <a:schemeClr val="lt1"/>
                </a:solidFill>
              </a:defRPr>
            </a:lvl5pPr>
            <a:lvl6pPr marL="2743200" lvl="5" indent="-304800">
              <a:spcBef>
                <a:spcPts val="1600"/>
              </a:spcBef>
              <a:spcAft>
                <a:spcPts val="0"/>
              </a:spcAft>
              <a:buClr>
                <a:schemeClr val="lt1"/>
              </a:buClr>
              <a:buSzPts val="1200"/>
              <a:buChar char="■"/>
              <a:defRPr sz="1200">
                <a:solidFill>
                  <a:schemeClr val="lt1"/>
                </a:solidFill>
              </a:defRPr>
            </a:lvl6pPr>
            <a:lvl7pPr marL="3200400" lvl="6" indent="-304800">
              <a:spcBef>
                <a:spcPts val="1600"/>
              </a:spcBef>
              <a:spcAft>
                <a:spcPts val="0"/>
              </a:spcAft>
              <a:buClr>
                <a:schemeClr val="lt1"/>
              </a:buClr>
              <a:buSzPts val="1200"/>
              <a:buChar char="●"/>
              <a:defRPr sz="1200">
                <a:solidFill>
                  <a:schemeClr val="lt1"/>
                </a:solidFill>
              </a:defRPr>
            </a:lvl7pPr>
            <a:lvl8pPr marL="3657600" lvl="7" indent="-304800">
              <a:spcBef>
                <a:spcPts val="1600"/>
              </a:spcBef>
              <a:spcAft>
                <a:spcPts val="0"/>
              </a:spcAft>
              <a:buClr>
                <a:schemeClr val="lt1"/>
              </a:buClr>
              <a:buSzPts val="1200"/>
              <a:buChar char="○"/>
              <a:defRPr sz="1200">
                <a:solidFill>
                  <a:schemeClr val="lt1"/>
                </a:solidFill>
              </a:defRPr>
            </a:lvl8pPr>
            <a:lvl9pPr marL="4114800" lvl="8" indent="-304800">
              <a:spcBef>
                <a:spcPts val="1600"/>
              </a:spcBef>
              <a:spcAft>
                <a:spcPts val="1600"/>
              </a:spcAft>
              <a:buClr>
                <a:schemeClr val="lt1"/>
              </a:buClr>
              <a:buSzPts val="1200"/>
              <a:buChar char="■"/>
              <a:defRPr sz="1200">
                <a:solidFill>
                  <a:schemeClr val="lt1"/>
                </a:solidFill>
              </a:defRPr>
            </a:lvl9pPr>
          </a:lstStyle>
          <a:p>
            <a:endParaRPr/>
          </a:p>
        </p:txBody>
      </p:sp>
      <p:sp>
        <p:nvSpPr>
          <p:cNvPr id="41" name="Google Shape;41;p7"/>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2"/>
        <p:cNvGrpSpPr/>
        <p:nvPr/>
      </p:nvGrpSpPr>
      <p:grpSpPr>
        <a:xfrm>
          <a:off x="0" y="0"/>
          <a:ext cx="0" cy="0"/>
          <a:chOff x="0" y="0"/>
          <a:chExt cx="0" cy="0"/>
        </a:xfrm>
      </p:grpSpPr>
      <p:sp>
        <p:nvSpPr>
          <p:cNvPr id="43" name="Google Shape;43;p8"/>
          <p:cNvSpPr txBox="1">
            <a:spLocks noGrp="1"/>
          </p:cNvSpPr>
          <p:nvPr>
            <p:ph type="title"/>
          </p:nvPr>
        </p:nvSpPr>
        <p:spPr>
          <a:xfrm>
            <a:off x="490250" y="488250"/>
            <a:ext cx="62271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a:endParaRPr/>
          </a:p>
        </p:txBody>
      </p:sp>
      <p:sp>
        <p:nvSpPr>
          <p:cNvPr id="44" name="Google Shape;44;p8"/>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5"/>
        <p:cNvGrpSpPr/>
        <p:nvPr/>
      </p:nvGrpSpPr>
      <p:grpSpPr>
        <a:xfrm>
          <a:off x="0" y="0"/>
          <a:ext cx="0" cy="0"/>
          <a:chOff x="0" y="0"/>
          <a:chExt cx="0" cy="0"/>
        </a:xfrm>
      </p:grpSpPr>
      <p:sp>
        <p:nvSpPr>
          <p:cNvPr id="46" name="Google Shape;46;p9"/>
          <p:cNvSpPr/>
          <p:nvPr/>
        </p:nvSpPr>
        <p:spPr>
          <a:xfrm flipH="1">
            <a:off x="0" y="0"/>
            <a:ext cx="4572000" cy="5143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9"/>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dk2"/>
              </a:buClr>
              <a:buSzPts val="4200"/>
              <a:buNone/>
              <a:defRPr sz="4200">
                <a:solidFill>
                  <a:schemeClr val="dk2"/>
                </a:solidFill>
              </a:defRPr>
            </a:lvl1pPr>
            <a:lvl2pPr lvl="1" algn="ctr">
              <a:spcBef>
                <a:spcPts val="0"/>
              </a:spcBef>
              <a:spcAft>
                <a:spcPts val="0"/>
              </a:spcAft>
              <a:buClr>
                <a:schemeClr val="dk2"/>
              </a:buClr>
              <a:buSzPts val="4200"/>
              <a:buNone/>
              <a:defRPr sz="4200">
                <a:solidFill>
                  <a:schemeClr val="dk2"/>
                </a:solidFill>
              </a:defRPr>
            </a:lvl2pPr>
            <a:lvl3pPr lvl="2" algn="ctr">
              <a:spcBef>
                <a:spcPts val="0"/>
              </a:spcBef>
              <a:spcAft>
                <a:spcPts val="0"/>
              </a:spcAft>
              <a:buClr>
                <a:schemeClr val="dk2"/>
              </a:buClr>
              <a:buSzPts val="4200"/>
              <a:buNone/>
              <a:defRPr sz="4200">
                <a:solidFill>
                  <a:schemeClr val="dk2"/>
                </a:solidFill>
              </a:defRPr>
            </a:lvl3pPr>
            <a:lvl4pPr lvl="3" algn="ctr">
              <a:spcBef>
                <a:spcPts val="0"/>
              </a:spcBef>
              <a:spcAft>
                <a:spcPts val="0"/>
              </a:spcAft>
              <a:buClr>
                <a:schemeClr val="dk2"/>
              </a:buClr>
              <a:buSzPts val="4200"/>
              <a:buNone/>
              <a:defRPr sz="4200">
                <a:solidFill>
                  <a:schemeClr val="dk2"/>
                </a:solidFill>
              </a:defRPr>
            </a:lvl4pPr>
            <a:lvl5pPr lvl="4" algn="ctr">
              <a:spcBef>
                <a:spcPts val="0"/>
              </a:spcBef>
              <a:spcAft>
                <a:spcPts val="0"/>
              </a:spcAft>
              <a:buClr>
                <a:schemeClr val="dk2"/>
              </a:buClr>
              <a:buSzPts val="4200"/>
              <a:buNone/>
              <a:defRPr sz="4200">
                <a:solidFill>
                  <a:schemeClr val="dk2"/>
                </a:solidFill>
              </a:defRPr>
            </a:lvl5pPr>
            <a:lvl6pPr lvl="5" algn="ctr">
              <a:spcBef>
                <a:spcPts val="0"/>
              </a:spcBef>
              <a:spcAft>
                <a:spcPts val="0"/>
              </a:spcAft>
              <a:buClr>
                <a:schemeClr val="dk2"/>
              </a:buClr>
              <a:buSzPts val="4200"/>
              <a:buNone/>
              <a:defRPr sz="4200">
                <a:solidFill>
                  <a:schemeClr val="dk2"/>
                </a:solidFill>
              </a:defRPr>
            </a:lvl6pPr>
            <a:lvl7pPr lvl="6" algn="ctr">
              <a:spcBef>
                <a:spcPts val="0"/>
              </a:spcBef>
              <a:spcAft>
                <a:spcPts val="0"/>
              </a:spcAft>
              <a:buClr>
                <a:schemeClr val="dk2"/>
              </a:buClr>
              <a:buSzPts val="4200"/>
              <a:buNone/>
              <a:defRPr sz="4200">
                <a:solidFill>
                  <a:schemeClr val="dk2"/>
                </a:solidFill>
              </a:defRPr>
            </a:lvl7pPr>
            <a:lvl8pPr lvl="7" algn="ctr">
              <a:spcBef>
                <a:spcPts val="0"/>
              </a:spcBef>
              <a:spcAft>
                <a:spcPts val="0"/>
              </a:spcAft>
              <a:buClr>
                <a:schemeClr val="dk2"/>
              </a:buClr>
              <a:buSzPts val="4200"/>
              <a:buNone/>
              <a:defRPr sz="4200">
                <a:solidFill>
                  <a:schemeClr val="dk2"/>
                </a:solidFill>
              </a:defRPr>
            </a:lvl8pPr>
            <a:lvl9pPr lvl="8" algn="ctr">
              <a:spcBef>
                <a:spcPts val="0"/>
              </a:spcBef>
              <a:spcAft>
                <a:spcPts val="0"/>
              </a:spcAft>
              <a:buClr>
                <a:schemeClr val="dk2"/>
              </a:buClr>
              <a:buSzPts val="4200"/>
              <a:buNone/>
              <a:defRPr sz="4200">
                <a:solidFill>
                  <a:schemeClr val="dk2"/>
                </a:solidFill>
              </a:defRPr>
            </a:lvl9pPr>
          </a:lstStyle>
          <a:p>
            <a:endParaRPr/>
          </a:p>
        </p:txBody>
      </p:sp>
      <p:sp>
        <p:nvSpPr>
          <p:cNvPr id="49" name="Google Shape;49;p9"/>
          <p:cNvSpPr txBox="1">
            <a:spLocks noGrp="1"/>
          </p:cNvSpPr>
          <p:nvPr>
            <p:ph type="subTitle" idx="1"/>
          </p:nvPr>
        </p:nvSpPr>
        <p:spPr>
          <a:xfrm>
            <a:off x="265500" y="2779467"/>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0" name="Google Shape;50;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1600"/>
              </a:spcBef>
              <a:spcAft>
                <a:spcPts val="0"/>
              </a:spcAft>
              <a:buClr>
                <a:schemeClr val="lt1"/>
              </a:buClr>
              <a:buSzPts val="1400"/>
              <a:buChar char="○"/>
              <a:defRPr>
                <a:solidFill>
                  <a:schemeClr val="lt1"/>
                </a:solidFill>
              </a:defRPr>
            </a:lvl2pPr>
            <a:lvl3pPr marL="1371600" lvl="2" indent="-317500">
              <a:spcBef>
                <a:spcPts val="1600"/>
              </a:spcBef>
              <a:spcAft>
                <a:spcPts val="0"/>
              </a:spcAft>
              <a:buClr>
                <a:schemeClr val="lt1"/>
              </a:buClr>
              <a:buSzPts val="1400"/>
              <a:buChar char="■"/>
              <a:defRPr>
                <a:solidFill>
                  <a:schemeClr val="lt1"/>
                </a:solidFill>
              </a:defRPr>
            </a:lvl3pPr>
            <a:lvl4pPr marL="1828800" lvl="3" indent="-317500">
              <a:spcBef>
                <a:spcPts val="1600"/>
              </a:spcBef>
              <a:spcAft>
                <a:spcPts val="0"/>
              </a:spcAft>
              <a:buClr>
                <a:schemeClr val="lt1"/>
              </a:buClr>
              <a:buSzPts val="1400"/>
              <a:buChar char="●"/>
              <a:defRPr>
                <a:solidFill>
                  <a:schemeClr val="lt1"/>
                </a:solidFill>
              </a:defRPr>
            </a:lvl4pPr>
            <a:lvl5pPr marL="2286000" lvl="4" indent="-317500">
              <a:spcBef>
                <a:spcPts val="1600"/>
              </a:spcBef>
              <a:spcAft>
                <a:spcPts val="0"/>
              </a:spcAft>
              <a:buClr>
                <a:schemeClr val="lt1"/>
              </a:buClr>
              <a:buSzPts val="1400"/>
              <a:buChar char="○"/>
              <a:defRPr>
                <a:solidFill>
                  <a:schemeClr val="lt1"/>
                </a:solidFill>
              </a:defRPr>
            </a:lvl5pPr>
            <a:lvl6pPr marL="2743200" lvl="5" indent="-317500">
              <a:spcBef>
                <a:spcPts val="1600"/>
              </a:spcBef>
              <a:spcAft>
                <a:spcPts val="0"/>
              </a:spcAft>
              <a:buClr>
                <a:schemeClr val="lt1"/>
              </a:buClr>
              <a:buSzPts val="1400"/>
              <a:buChar char="■"/>
              <a:defRPr>
                <a:solidFill>
                  <a:schemeClr val="lt1"/>
                </a:solidFill>
              </a:defRPr>
            </a:lvl6pPr>
            <a:lvl7pPr marL="3200400" lvl="6" indent="-317500">
              <a:spcBef>
                <a:spcPts val="1600"/>
              </a:spcBef>
              <a:spcAft>
                <a:spcPts val="0"/>
              </a:spcAft>
              <a:buClr>
                <a:schemeClr val="lt1"/>
              </a:buClr>
              <a:buSzPts val="1400"/>
              <a:buChar char="●"/>
              <a:defRPr>
                <a:solidFill>
                  <a:schemeClr val="lt1"/>
                </a:solidFill>
              </a:defRPr>
            </a:lvl7pPr>
            <a:lvl8pPr marL="3657600" lvl="7" indent="-317500">
              <a:spcBef>
                <a:spcPts val="1600"/>
              </a:spcBef>
              <a:spcAft>
                <a:spcPts val="0"/>
              </a:spcAft>
              <a:buClr>
                <a:schemeClr val="lt1"/>
              </a:buClr>
              <a:buSzPts val="1400"/>
              <a:buChar char="○"/>
              <a:defRPr>
                <a:solidFill>
                  <a:schemeClr val="lt1"/>
                </a:solidFill>
              </a:defRPr>
            </a:lvl8pPr>
            <a:lvl9pPr marL="4114800" lvl="8" indent="-317500">
              <a:spcBef>
                <a:spcPts val="1600"/>
              </a:spcBef>
              <a:spcAft>
                <a:spcPts val="1600"/>
              </a:spcAft>
              <a:buClr>
                <a:schemeClr val="lt1"/>
              </a:buClr>
              <a:buSzPts val="1400"/>
              <a:buChar char="■"/>
              <a:defRPr>
                <a:solidFill>
                  <a:schemeClr val="lt1"/>
                </a:solidFill>
              </a:defRPr>
            </a:lvl9pPr>
          </a:lstStyle>
          <a:p>
            <a:endParaRPr/>
          </a:p>
        </p:txBody>
      </p:sp>
      <p:sp>
        <p:nvSpPr>
          <p:cNvPr id="51" name="Google Shape;51;p9"/>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2"/>
        <p:cNvGrpSpPr/>
        <p:nvPr/>
      </p:nvGrpSpPr>
      <p:grpSpPr>
        <a:xfrm>
          <a:off x="0" y="0"/>
          <a:ext cx="0" cy="0"/>
          <a:chOff x="0" y="0"/>
          <a:chExt cx="0" cy="0"/>
        </a:xfrm>
      </p:grpSpPr>
      <p:sp>
        <p:nvSpPr>
          <p:cNvPr id="53" name="Google Shape;53;p10"/>
          <p:cNvSpPr txBox="1"/>
          <p:nvPr/>
        </p:nvSpPr>
        <p:spPr>
          <a:xfrm rot="10800000" flipH="1">
            <a:off x="0" y="0"/>
            <a:ext cx="9144000" cy="46959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10"/>
          <p:cNvSpPr/>
          <p:nvPr/>
        </p:nvSpPr>
        <p:spPr>
          <a:xfrm rot="10800000" flipH="1">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10"/>
          <p:cNvSpPr txBox="1">
            <a:spLocks noGrp="1"/>
          </p:cNvSpPr>
          <p:nvPr>
            <p:ph type="body" idx="1"/>
          </p:nvPr>
        </p:nvSpPr>
        <p:spPr>
          <a:xfrm>
            <a:off x="57150" y="4696825"/>
            <a:ext cx="8382000" cy="4467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Clr>
                <a:schemeClr val="lt1"/>
              </a:buClr>
              <a:buSzPts val="1200"/>
              <a:buNone/>
              <a:defRPr sz="1200">
                <a:solidFill>
                  <a:schemeClr val="lt1"/>
                </a:solidFill>
              </a:defRPr>
            </a:lvl1pPr>
          </a:lstStyle>
          <a:p>
            <a:endParaRPr/>
          </a:p>
        </p:txBody>
      </p:sp>
      <p:sp>
        <p:nvSpPr>
          <p:cNvPr id="56" name="Google Shape;56;p10"/>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accent4"/>
        </a:solidFill>
        <a:effectLst/>
      </p:bgPr>
    </p:bg>
    <p:spTree>
      <p:nvGrpSpPr>
        <p:cNvPr id="1" name="Shape 57"/>
        <p:cNvGrpSpPr/>
        <p:nvPr/>
      </p:nvGrpSpPr>
      <p:grpSpPr>
        <a:xfrm>
          <a:off x="0" y="0"/>
          <a:ext cx="0" cy="0"/>
          <a:chOff x="0" y="0"/>
          <a:chExt cx="0" cy="0"/>
        </a:xfrm>
      </p:grpSpPr>
      <p:sp>
        <p:nvSpPr>
          <p:cNvPr id="58" name="Google Shape;58;p11"/>
          <p:cNvSpPr txBox="1">
            <a:spLocks noGrp="1"/>
          </p:cNvSpPr>
          <p:nvPr>
            <p:ph type="title" hasCustomPrompt="1"/>
          </p:nvPr>
        </p:nvSpPr>
        <p:spPr>
          <a:xfrm>
            <a:off x="475500" y="1258525"/>
            <a:ext cx="8222100" cy="19635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dk2"/>
              </a:buClr>
              <a:buSzPts val="12000"/>
              <a:buNone/>
              <a:defRPr sz="12000">
                <a:solidFill>
                  <a:schemeClr val="dk2"/>
                </a:solidFill>
              </a:defRPr>
            </a:lvl1pPr>
            <a:lvl2pPr lvl="1" algn="ctr">
              <a:spcBef>
                <a:spcPts val="0"/>
              </a:spcBef>
              <a:spcAft>
                <a:spcPts val="0"/>
              </a:spcAft>
              <a:buClr>
                <a:schemeClr val="dk2"/>
              </a:buClr>
              <a:buSzPts val="12000"/>
              <a:buNone/>
              <a:defRPr sz="12000">
                <a:solidFill>
                  <a:schemeClr val="dk2"/>
                </a:solidFill>
              </a:defRPr>
            </a:lvl2pPr>
            <a:lvl3pPr lvl="2" algn="ctr">
              <a:spcBef>
                <a:spcPts val="0"/>
              </a:spcBef>
              <a:spcAft>
                <a:spcPts val="0"/>
              </a:spcAft>
              <a:buClr>
                <a:schemeClr val="dk2"/>
              </a:buClr>
              <a:buSzPts val="12000"/>
              <a:buNone/>
              <a:defRPr sz="12000">
                <a:solidFill>
                  <a:schemeClr val="dk2"/>
                </a:solidFill>
              </a:defRPr>
            </a:lvl3pPr>
            <a:lvl4pPr lvl="3" algn="ctr">
              <a:spcBef>
                <a:spcPts val="0"/>
              </a:spcBef>
              <a:spcAft>
                <a:spcPts val="0"/>
              </a:spcAft>
              <a:buClr>
                <a:schemeClr val="dk2"/>
              </a:buClr>
              <a:buSzPts val="12000"/>
              <a:buNone/>
              <a:defRPr sz="12000">
                <a:solidFill>
                  <a:schemeClr val="dk2"/>
                </a:solidFill>
              </a:defRPr>
            </a:lvl4pPr>
            <a:lvl5pPr lvl="4" algn="ctr">
              <a:spcBef>
                <a:spcPts val="0"/>
              </a:spcBef>
              <a:spcAft>
                <a:spcPts val="0"/>
              </a:spcAft>
              <a:buClr>
                <a:schemeClr val="dk2"/>
              </a:buClr>
              <a:buSzPts val="12000"/>
              <a:buNone/>
              <a:defRPr sz="12000">
                <a:solidFill>
                  <a:schemeClr val="dk2"/>
                </a:solidFill>
              </a:defRPr>
            </a:lvl5pPr>
            <a:lvl6pPr lvl="5" algn="ctr">
              <a:spcBef>
                <a:spcPts val="0"/>
              </a:spcBef>
              <a:spcAft>
                <a:spcPts val="0"/>
              </a:spcAft>
              <a:buClr>
                <a:schemeClr val="dk2"/>
              </a:buClr>
              <a:buSzPts val="12000"/>
              <a:buNone/>
              <a:defRPr sz="12000">
                <a:solidFill>
                  <a:schemeClr val="dk2"/>
                </a:solidFill>
              </a:defRPr>
            </a:lvl6pPr>
            <a:lvl7pPr lvl="6" algn="ctr">
              <a:spcBef>
                <a:spcPts val="0"/>
              </a:spcBef>
              <a:spcAft>
                <a:spcPts val="0"/>
              </a:spcAft>
              <a:buClr>
                <a:schemeClr val="dk2"/>
              </a:buClr>
              <a:buSzPts val="12000"/>
              <a:buNone/>
              <a:defRPr sz="12000">
                <a:solidFill>
                  <a:schemeClr val="dk2"/>
                </a:solidFill>
              </a:defRPr>
            </a:lvl7pPr>
            <a:lvl8pPr lvl="7" algn="ctr">
              <a:spcBef>
                <a:spcPts val="0"/>
              </a:spcBef>
              <a:spcAft>
                <a:spcPts val="0"/>
              </a:spcAft>
              <a:buClr>
                <a:schemeClr val="dk2"/>
              </a:buClr>
              <a:buSzPts val="12000"/>
              <a:buNone/>
              <a:defRPr sz="12000">
                <a:solidFill>
                  <a:schemeClr val="dk2"/>
                </a:solidFill>
              </a:defRPr>
            </a:lvl8pPr>
            <a:lvl9pPr lvl="8" algn="ctr">
              <a:spcBef>
                <a:spcPts val="0"/>
              </a:spcBef>
              <a:spcAft>
                <a:spcPts val="0"/>
              </a:spcAft>
              <a:buClr>
                <a:schemeClr val="dk2"/>
              </a:buClr>
              <a:buSzPts val="12000"/>
              <a:buNone/>
              <a:defRPr sz="12000">
                <a:solidFill>
                  <a:schemeClr val="dk2"/>
                </a:solidFill>
              </a:defRPr>
            </a:lvl9pPr>
          </a:lstStyle>
          <a:p>
            <a:r>
              <a:t>xx%</a:t>
            </a:r>
          </a:p>
        </p:txBody>
      </p:sp>
      <p:sp>
        <p:nvSpPr>
          <p:cNvPr id="59" name="Google Shape;59;p11"/>
          <p:cNvSpPr txBox="1">
            <a:spLocks noGrp="1"/>
          </p:cNvSpPr>
          <p:nvPr>
            <p:ph type="body" idx="1"/>
          </p:nvPr>
        </p:nvSpPr>
        <p:spPr>
          <a:xfrm>
            <a:off x="475500" y="3304625"/>
            <a:ext cx="82221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60" name="Google Shape;60;p11"/>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4"/>
        </a:solidFill>
        <a:effectLst/>
      </p:bgPr>
    </p:bg>
    <p:spTree>
      <p:nvGrpSpPr>
        <p:cNvPr id="1" name="Shape 61"/>
        <p:cNvGrpSpPr/>
        <p:nvPr/>
      </p:nvGrpSpPr>
      <p:grpSpPr>
        <a:xfrm>
          <a:off x="0" y="0"/>
          <a:ext cx="0" cy="0"/>
          <a:chOff x="0" y="0"/>
          <a:chExt cx="0" cy="0"/>
        </a:xfrm>
      </p:grpSpPr>
      <p:sp>
        <p:nvSpPr>
          <p:cNvPr id="62" name="Google Shape;62;p12"/>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terial">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71900" y="738725"/>
            <a:ext cx="8222100" cy="767700"/>
          </a:xfrm>
          <a:prstGeom prst="rect">
            <a:avLst/>
          </a:prstGeom>
          <a:noFill/>
          <a:ln>
            <a:noFill/>
          </a:ln>
        </p:spPr>
        <p:txBody>
          <a:bodyPr spcFirstLastPara="1" wrap="square" lIns="91425" tIns="91425" rIns="91425" bIns="91425" anchor="b" anchorCtr="0">
            <a:noAutofit/>
          </a:bodyPr>
          <a:lstStyle>
            <a:lvl1pPr lv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1pPr>
            <a:lvl2pPr lvl="1">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2pPr>
            <a:lvl3pPr lvl="2">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3pPr>
            <a:lvl4pPr lvl="3">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4pPr>
            <a:lvl5pPr lvl="4">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5pPr>
            <a:lvl6pPr lvl="5">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6pPr>
            <a:lvl7pPr lvl="6">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7pPr>
            <a:lvl8pPr lvl="7">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8pPr>
            <a:lvl9pPr lvl="8">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9pPr>
          </a:lstStyle>
          <a:p>
            <a:endParaRPr/>
          </a:p>
        </p:txBody>
      </p:sp>
      <p:sp>
        <p:nvSpPr>
          <p:cNvPr id="7" name="Google Shape;7;p1"/>
          <p:cNvSpPr txBox="1">
            <a:spLocks noGrp="1"/>
          </p:cNvSpPr>
          <p:nvPr>
            <p:ph type="body" idx="1"/>
          </p:nvPr>
        </p:nvSpPr>
        <p:spPr>
          <a:xfrm>
            <a:off x="471900" y="1919075"/>
            <a:ext cx="8222100" cy="27102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lt2"/>
              </a:buClr>
              <a:buSzPts val="1800"/>
              <a:buFont typeface="Roboto"/>
              <a:buChar char="●"/>
              <a:defRPr sz="1800">
                <a:solidFill>
                  <a:schemeClr val="lt2"/>
                </a:solidFill>
                <a:latin typeface="Roboto"/>
                <a:ea typeface="Roboto"/>
                <a:cs typeface="Roboto"/>
                <a:sym typeface="Roboto"/>
              </a:defRPr>
            </a:lvl1pPr>
            <a:lvl2pPr marL="914400" lvl="1" indent="-3175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2pPr>
            <a:lvl3pPr marL="1371600" lvl="2" indent="-3175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3pPr>
            <a:lvl4pPr marL="1828800" lvl="3" indent="-3175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4pPr>
            <a:lvl5pPr marL="2286000" lvl="4" indent="-3175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5pPr>
            <a:lvl6pPr marL="2743200" lvl="5" indent="-3175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6pPr>
            <a:lvl7pPr marL="3200400" lvl="6" indent="-3175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7pPr>
            <a:lvl8pPr marL="3657600" lvl="7" indent="-3175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8pPr>
            <a:lvl9pPr marL="4114800" lvl="8" indent="-317500">
              <a:lnSpc>
                <a:spcPct val="115000"/>
              </a:lnSpc>
              <a:spcBef>
                <a:spcPts val="1600"/>
              </a:spcBef>
              <a:spcAft>
                <a:spcPts val="1600"/>
              </a:spcAft>
              <a:buClr>
                <a:schemeClr val="lt2"/>
              </a:buClr>
              <a:buSzPts val="1400"/>
              <a:buFont typeface="Roboto"/>
              <a:buChar char="■"/>
              <a:defRPr>
                <a:solidFill>
                  <a:schemeClr val="lt2"/>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523541" y="4695623"/>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lt2"/>
                </a:solidFill>
                <a:latin typeface="Roboto"/>
                <a:ea typeface="Roboto"/>
                <a:cs typeface="Roboto"/>
                <a:sym typeface="Roboto"/>
              </a:defRPr>
            </a:lvl1pPr>
            <a:lvl2pPr lvl="1" algn="r">
              <a:buNone/>
              <a:defRPr sz="1000">
                <a:solidFill>
                  <a:schemeClr val="lt2"/>
                </a:solidFill>
                <a:latin typeface="Roboto"/>
                <a:ea typeface="Roboto"/>
                <a:cs typeface="Roboto"/>
                <a:sym typeface="Roboto"/>
              </a:defRPr>
            </a:lvl2pPr>
            <a:lvl3pPr lvl="2" algn="r">
              <a:buNone/>
              <a:defRPr sz="1000">
                <a:solidFill>
                  <a:schemeClr val="lt2"/>
                </a:solidFill>
                <a:latin typeface="Roboto"/>
                <a:ea typeface="Roboto"/>
                <a:cs typeface="Roboto"/>
                <a:sym typeface="Roboto"/>
              </a:defRPr>
            </a:lvl3pPr>
            <a:lvl4pPr lvl="3" algn="r">
              <a:buNone/>
              <a:defRPr sz="1000">
                <a:solidFill>
                  <a:schemeClr val="lt2"/>
                </a:solidFill>
                <a:latin typeface="Roboto"/>
                <a:ea typeface="Roboto"/>
                <a:cs typeface="Roboto"/>
                <a:sym typeface="Roboto"/>
              </a:defRPr>
            </a:lvl4pPr>
            <a:lvl5pPr lvl="4" algn="r">
              <a:buNone/>
              <a:defRPr sz="1000">
                <a:solidFill>
                  <a:schemeClr val="lt2"/>
                </a:solidFill>
                <a:latin typeface="Roboto"/>
                <a:ea typeface="Roboto"/>
                <a:cs typeface="Roboto"/>
                <a:sym typeface="Roboto"/>
              </a:defRPr>
            </a:lvl5pPr>
            <a:lvl6pPr lvl="5" algn="r">
              <a:buNone/>
              <a:defRPr sz="1000">
                <a:solidFill>
                  <a:schemeClr val="lt2"/>
                </a:solidFill>
                <a:latin typeface="Roboto"/>
                <a:ea typeface="Roboto"/>
                <a:cs typeface="Roboto"/>
                <a:sym typeface="Roboto"/>
              </a:defRPr>
            </a:lvl6pPr>
            <a:lvl7pPr lvl="6" algn="r">
              <a:buNone/>
              <a:defRPr sz="1000">
                <a:solidFill>
                  <a:schemeClr val="lt2"/>
                </a:solidFill>
                <a:latin typeface="Roboto"/>
                <a:ea typeface="Roboto"/>
                <a:cs typeface="Roboto"/>
                <a:sym typeface="Roboto"/>
              </a:defRPr>
            </a:lvl7pPr>
            <a:lvl8pPr lvl="7" algn="r">
              <a:buNone/>
              <a:defRPr sz="1000">
                <a:solidFill>
                  <a:schemeClr val="lt2"/>
                </a:solidFill>
                <a:latin typeface="Roboto"/>
                <a:ea typeface="Roboto"/>
                <a:cs typeface="Roboto"/>
                <a:sym typeface="Roboto"/>
              </a:defRPr>
            </a:lvl8pPr>
            <a:lvl9pPr lvl="8" algn="r">
              <a:buNone/>
              <a:defRPr sz="1000">
                <a:solidFill>
                  <a:schemeClr val="lt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6.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3"/>
          <p:cNvSpPr txBox="1">
            <a:spLocks noGrp="1"/>
          </p:cNvSpPr>
          <p:nvPr>
            <p:ph type="ctrTitle"/>
          </p:nvPr>
        </p:nvSpPr>
        <p:spPr>
          <a:xfrm>
            <a:off x="390525" y="1819275"/>
            <a:ext cx="8222100" cy="933600"/>
          </a:xfrm>
          <a:prstGeom prst="rect">
            <a:avLst/>
          </a:prstGeom>
        </p:spPr>
        <p:txBody>
          <a:bodyPr spcFirstLastPara="1" wrap="square" lIns="91425" tIns="91425" rIns="91425" bIns="91425" anchor="b" anchorCtr="0">
            <a:noAutofit/>
          </a:bodyPr>
          <a:lstStyle/>
          <a:p>
            <a:pPr marL="0" lvl="0" indent="0" algn="ctr" rtl="0">
              <a:lnSpc>
                <a:spcPct val="150000"/>
              </a:lnSpc>
              <a:spcBef>
                <a:spcPts val="2400"/>
              </a:spcBef>
              <a:spcAft>
                <a:spcPts val="1200"/>
              </a:spcAft>
              <a:buNone/>
            </a:pPr>
            <a:r>
              <a:rPr lang="en" sz="3700" b="1">
                <a:solidFill>
                  <a:srgbClr val="FFFFFF"/>
                </a:solidFill>
                <a:latin typeface="Times New Roman"/>
                <a:ea typeface="Times New Roman"/>
                <a:cs typeface="Times New Roman"/>
                <a:sym typeface="Times New Roman"/>
              </a:rPr>
              <a:t>PREDICTING THE IMPACTS OF BUSINESS ON THE SOCIAL MEDIA</a:t>
            </a:r>
            <a:endParaRPr sz="7300">
              <a:solidFill>
                <a:srgbClr val="FFFFFF"/>
              </a:solidFill>
            </a:endParaRPr>
          </a:p>
        </p:txBody>
      </p:sp>
      <p:sp>
        <p:nvSpPr>
          <p:cNvPr id="68" name="Google Shape;68;p13"/>
          <p:cNvSpPr txBox="1">
            <a:spLocks noGrp="1"/>
          </p:cNvSpPr>
          <p:nvPr>
            <p:ph type="subTitle" idx="1"/>
          </p:nvPr>
        </p:nvSpPr>
        <p:spPr>
          <a:xfrm>
            <a:off x="390525" y="2789130"/>
            <a:ext cx="8222100" cy="432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endParaRPr sz="3700" b="1" dirty="0">
              <a:solidFill>
                <a:srgbClr val="F6B26B"/>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4"/>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4400" dirty="0"/>
              <a:t>ABSTRACT</a:t>
            </a:r>
            <a:endParaRPr sz="4400" dirty="0"/>
          </a:p>
        </p:txBody>
      </p:sp>
      <p:sp>
        <p:nvSpPr>
          <p:cNvPr id="74" name="Google Shape;74;p14"/>
          <p:cNvSpPr txBox="1">
            <a:spLocks noGrp="1"/>
          </p:cNvSpPr>
          <p:nvPr>
            <p:ph type="body" idx="1"/>
          </p:nvPr>
        </p:nvSpPr>
        <p:spPr>
          <a:xfrm>
            <a:off x="0" y="1919075"/>
            <a:ext cx="9091200" cy="3224400"/>
          </a:xfrm>
          <a:prstGeom prst="rect">
            <a:avLst/>
          </a:prstGeom>
        </p:spPr>
        <p:txBody>
          <a:bodyPr spcFirstLastPara="1" wrap="square" lIns="91425" tIns="91425" rIns="91425" bIns="91425" anchor="t" anchorCtr="0">
            <a:noAutofit/>
          </a:bodyPr>
          <a:lstStyle/>
          <a:p>
            <a:pPr marL="457200" lvl="0" indent="-342900" algn="just" rtl="0">
              <a:spcBef>
                <a:spcPts val="0"/>
              </a:spcBef>
              <a:spcAft>
                <a:spcPts val="0"/>
              </a:spcAft>
              <a:buClr>
                <a:srgbClr val="000000"/>
              </a:buClr>
              <a:buSzPts val="1800"/>
              <a:buFont typeface="Times New Roman"/>
              <a:buChar char="●"/>
            </a:pPr>
            <a:r>
              <a:rPr lang="en" sz="2000" dirty="0">
                <a:solidFill>
                  <a:srgbClr val="000000"/>
                </a:solidFill>
                <a:latin typeface="Times New Roman"/>
                <a:ea typeface="Times New Roman"/>
                <a:cs typeface="Times New Roman"/>
                <a:sym typeface="Times New Roman"/>
              </a:rPr>
              <a:t>Sentiment analysis is a method of determining the emotional state expressed in information or text by categorizing it into three categories: positive, negative and neutral</a:t>
            </a:r>
            <a:endParaRPr sz="2000" dirty="0">
              <a:solidFill>
                <a:srgbClr val="000000"/>
              </a:solidFill>
              <a:latin typeface="Times New Roman"/>
              <a:ea typeface="Times New Roman"/>
              <a:cs typeface="Times New Roman"/>
              <a:sym typeface="Times New Roman"/>
            </a:endParaRPr>
          </a:p>
          <a:p>
            <a:pPr marL="457200" lvl="0" indent="-342900" algn="just" rtl="0">
              <a:spcBef>
                <a:spcPts val="0"/>
              </a:spcBef>
              <a:spcAft>
                <a:spcPts val="0"/>
              </a:spcAft>
              <a:buClr>
                <a:srgbClr val="000000"/>
              </a:buClr>
              <a:buSzPts val="1800"/>
              <a:buFont typeface="Times New Roman"/>
              <a:buChar char="●"/>
            </a:pPr>
            <a:r>
              <a:rPr lang="en" sz="2000" dirty="0">
                <a:solidFill>
                  <a:srgbClr val="000000"/>
                </a:solidFill>
                <a:latin typeface="Times New Roman"/>
                <a:ea typeface="Times New Roman"/>
                <a:cs typeface="Times New Roman"/>
                <a:sym typeface="Times New Roman"/>
              </a:rPr>
              <a:t>The proposed model was shown for sentiment analysis via Text Blob and Pattern. </a:t>
            </a:r>
            <a:endParaRPr sz="2000" dirty="0">
              <a:solidFill>
                <a:srgbClr val="000000"/>
              </a:solidFill>
              <a:latin typeface="Times New Roman"/>
              <a:ea typeface="Times New Roman"/>
              <a:cs typeface="Times New Roman"/>
              <a:sym typeface="Times New Roman"/>
            </a:endParaRPr>
          </a:p>
          <a:p>
            <a:pPr marL="457200" lvl="0" indent="-342900" algn="just" rtl="0">
              <a:spcBef>
                <a:spcPts val="0"/>
              </a:spcBef>
              <a:spcAft>
                <a:spcPts val="0"/>
              </a:spcAft>
              <a:buClr>
                <a:srgbClr val="000000"/>
              </a:buClr>
              <a:buSzPts val="1800"/>
              <a:buFont typeface="Times New Roman"/>
              <a:buChar char="●"/>
            </a:pPr>
            <a:r>
              <a:rPr lang="en" sz="2000" dirty="0">
                <a:solidFill>
                  <a:srgbClr val="000000"/>
                </a:solidFill>
                <a:latin typeface="Times New Roman"/>
                <a:ea typeface="Times New Roman"/>
                <a:cs typeface="Times New Roman"/>
                <a:sym typeface="Times New Roman"/>
              </a:rPr>
              <a:t>The five small business-oriented companies’ reviews are analyzed and compared to which one is best satisfactory by the sentiment score ratio between total nos. of web scraped sentences and positive words. </a:t>
            </a:r>
            <a:endParaRPr sz="2000" dirty="0">
              <a:solidFill>
                <a:srgbClr val="000000"/>
              </a:solidFill>
              <a:latin typeface="Times New Roman"/>
              <a:ea typeface="Times New Roman"/>
              <a:cs typeface="Times New Roman"/>
              <a:sym typeface="Times New Roman"/>
            </a:endParaRPr>
          </a:p>
          <a:p>
            <a:pPr marL="0" lvl="0" indent="0" algn="l" rtl="0">
              <a:spcBef>
                <a:spcPts val="1200"/>
              </a:spcBef>
              <a:spcAft>
                <a:spcPts val="1600"/>
              </a:spcAft>
              <a:buNone/>
            </a:pPr>
            <a:endParaRPr sz="1200" dirty="0">
              <a:solidFill>
                <a:srgbClr val="000000"/>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15"/>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Aims &amp; Objectives</a:t>
            </a:r>
            <a:endParaRPr/>
          </a:p>
        </p:txBody>
      </p:sp>
      <p:sp>
        <p:nvSpPr>
          <p:cNvPr id="80" name="Google Shape;80;p15"/>
          <p:cNvSpPr txBox="1">
            <a:spLocks noGrp="1"/>
          </p:cNvSpPr>
          <p:nvPr>
            <p:ph type="body" idx="1"/>
          </p:nvPr>
        </p:nvSpPr>
        <p:spPr>
          <a:xfrm>
            <a:off x="471900" y="1919075"/>
            <a:ext cx="3999900" cy="2710200"/>
          </a:xfrm>
          <a:prstGeom prst="rect">
            <a:avLst/>
          </a:prstGeom>
        </p:spPr>
        <p:txBody>
          <a:bodyPr spcFirstLastPara="1" wrap="square" lIns="91425" tIns="91425" rIns="91425" bIns="91425" anchor="t" anchorCtr="0">
            <a:noAutofit/>
          </a:bodyPr>
          <a:lstStyle/>
          <a:p>
            <a:pPr marL="0" lvl="0" indent="0" algn="just" rtl="0">
              <a:lnSpc>
                <a:spcPct val="150000"/>
              </a:lnSpc>
              <a:spcBef>
                <a:spcPts val="1200"/>
              </a:spcBef>
              <a:spcAft>
                <a:spcPts val="0"/>
              </a:spcAft>
              <a:buNone/>
            </a:pPr>
            <a:r>
              <a:rPr lang="en">
                <a:solidFill>
                  <a:srgbClr val="000000"/>
                </a:solidFill>
                <a:latin typeface="Times New Roman"/>
                <a:ea typeface="Times New Roman"/>
                <a:cs typeface="Times New Roman"/>
                <a:sym typeface="Times New Roman"/>
              </a:rPr>
              <a:t>The purpose of this project is to look into the potential effects of social media on commercial enterprises, especially those geared towards small businesses like Bettys, The Yorkshire Soap Company, Black Yak, and Masons Yorkshire Gin. The research will make use of machine learning (ML) and artificial intelligence (AI) methodologies to accomplish this. </a:t>
            </a:r>
            <a:endParaRPr>
              <a:solidFill>
                <a:srgbClr val="000000"/>
              </a:solidFill>
              <a:latin typeface="Times New Roman"/>
              <a:ea typeface="Times New Roman"/>
              <a:cs typeface="Times New Roman"/>
              <a:sym typeface="Times New Roman"/>
            </a:endParaRPr>
          </a:p>
          <a:p>
            <a:pPr marL="0" lvl="0" indent="0" algn="l" rtl="0">
              <a:spcBef>
                <a:spcPts val="1200"/>
              </a:spcBef>
              <a:spcAft>
                <a:spcPts val="1600"/>
              </a:spcAft>
              <a:buNone/>
            </a:pPr>
            <a:endParaRPr/>
          </a:p>
        </p:txBody>
      </p:sp>
      <p:sp>
        <p:nvSpPr>
          <p:cNvPr id="81" name="Google Shape;81;p15"/>
          <p:cNvSpPr txBox="1">
            <a:spLocks noGrp="1"/>
          </p:cNvSpPr>
          <p:nvPr>
            <p:ph type="body" idx="2"/>
          </p:nvPr>
        </p:nvSpPr>
        <p:spPr>
          <a:xfrm>
            <a:off x="4664675" y="1919075"/>
            <a:ext cx="4293900" cy="2941500"/>
          </a:xfrm>
          <a:prstGeom prst="rect">
            <a:avLst/>
          </a:prstGeom>
        </p:spPr>
        <p:txBody>
          <a:bodyPr spcFirstLastPara="1" wrap="square" lIns="91425" tIns="91425" rIns="91425" bIns="91425" anchor="t" anchorCtr="0">
            <a:noAutofit/>
          </a:bodyPr>
          <a:lstStyle/>
          <a:p>
            <a:pPr marL="114300" lvl="0" indent="0" algn="just" rtl="0">
              <a:lnSpc>
                <a:spcPct val="150000"/>
              </a:lnSpc>
              <a:spcBef>
                <a:spcPts val="0"/>
              </a:spcBef>
              <a:spcAft>
                <a:spcPts val="0"/>
              </a:spcAft>
              <a:buNone/>
            </a:pPr>
            <a:r>
              <a:rPr lang="en" sz="1700" i="1">
                <a:solidFill>
                  <a:srgbClr val="000000"/>
                </a:solidFill>
                <a:latin typeface="Arial"/>
                <a:ea typeface="Arial"/>
                <a:cs typeface="Arial"/>
                <a:sym typeface="Arial"/>
              </a:rPr>
              <a:t>●</a:t>
            </a:r>
            <a:r>
              <a:rPr lang="en" sz="1200" i="1">
                <a:solidFill>
                  <a:srgbClr val="000000"/>
                </a:solidFill>
                <a:latin typeface="Times New Roman"/>
                <a:ea typeface="Times New Roman"/>
                <a:cs typeface="Times New Roman"/>
                <a:sym typeface="Times New Roman"/>
              </a:rPr>
              <a:t>       </a:t>
            </a:r>
            <a:r>
              <a:rPr lang="en" sz="1700" i="1">
                <a:solidFill>
                  <a:srgbClr val="000000"/>
                </a:solidFill>
                <a:latin typeface="Times New Roman"/>
                <a:ea typeface="Times New Roman"/>
                <a:cs typeface="Times New Roman"/>
                <a:sym typeface="Times New Roman"/>
              </a:rPr>
              <a:t>To consider how the results of sentiment analysis can be used in practice to raise client satisfaction with a business's operations. Examine the ways in which sentiment insights can aid in the development of customer-centric strategies and serve as a strategic decision-making tool.</a:t>
            </a:r>
            <a:endParaRPr sz="1700" i="1">
              <a:solidFill>
                <a:srgbClr val="000000"/>
              </a:solidFill>
              <a:latin typeface="Times New Roman"/>
              <a:ea typeface="Times New Roman"/>
              <a:cs typeface="Times New Roman"/>
              <a:sym typeface="Times New Roman"/>
            </a:endParaRPr>
          </a:p>
          <a:p>
            <a:pPr marL="0" lvl="0" indent="0" algn="l" rtl="0">
              <a:spcBef>
                <a:spcPts val="800"/>
              </a:spcBef>
              <a:spcAft>
                <a:spcPts val="1600"/>
              </a:spcAft>
              <a:buNone/>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6"/>
          <p:cNvSpPr txBox="1">
            <a:spLocks noGrp="1"/>
          </p:cNvSpPr>
          <p:nvPr>
            <p:ph type="title"/>
          </p:nvPr>
        </p:nvSpPr>
        <p:spPr>
          <a:xfrm>
            <a:off x="277503" y="-310850"/>
            <a:ext cx="2808000" cy="953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Literature Review</a:t>
            </a:r>
            <a:endParaRPr/>
          </a:p>
        </p:txBody>
      </p:sp>
      <p:sp>
        <p:nvSpPr>
          <p:cNvPr id="87" name="Google Shape;87;p16"/>
          <p:cNvSpPr txBox="1">
            <a:spLocks noGrp="1"/>
          </p:cNvSpPr>
          <p:nvPr>
            <p:ph type="body" idx="1"/>
          </p:nvPr>
        </p:nvSpPr>
        <p:spPr>
          <a:xfrm>
            <a:off x="64300" y="718750"/>
            <a:ext cx="3124800" cy="4500900"/>
          </a:xfrm>
          <a:prstGeom prst="rect">
            <a:avLst/>
          </a:prstGeom>
        </p:spPr>
        <p:txBody>
          <a:bodyPr spcFirstLastPara="1" wrap="square" lIns="91425" tIns="91425" rIns="91425" bIns="91425" anchor="t" anchorCtr="0">
            <a:noAutofit/>
          </a:bodyPr>
          <a:lstStyle/>
          <a:p>
            <a:pPr marL="285750" lvl="0" indent="-215900" algn="just" rtl="0">
              <a:spcBef>
                <a:spcPts val="0"/>
              </a:spcBef>
              <a:spcAft>
                <a:spcPts val="0"/>
              </a:spcAft>
              <a:buClr>
                <a:srgbClr val="FFFFFF"/>
              </a:buClr>
              <a:buSzPts val="1600"/>
              <a:buFont typeface="Times New Roman"/>
              <a:buChar char="●"/>
            </a:pPr>
            <a:r>
              <a:rPr lang="en" sz="1600" i="1">
                <a:solidFill>
                  <a:srgbClr val="FFFFFF"/>
                </a:solidFill>
                <a:latin typeface="Times New Roman"/>
                <a:ea typeface="Times New Roman"/>
                <a:cs typeface="Times New Roman"/>
                <a:sym typeface="Times New Roman"/>
              </a:rPr>
              <a:t>This review of the literature sheds light on the evolving value of social media within the business environment of the modern day through AI.</a:t>
            </a:r>
            <a:endParaRPr sz="1600" i="1">
              <a:solidFill>
                <a:srgbClr val="FFFFFF"/>
              </a:solidFill>
              <a:latin typeface="Times New Roman"/>
              <a:ea typeface="Times New Roman"/>
              <a:cs typeface="Times New Roman"/>
              <a:sym typeface="Times New Roman"/>
            </a:endParaRPr>
          </a:p>
          <a:p>
            <a:pPr marL="285750" lvl="0" indent="-215900" algn="just" rtl="0">
              <a:spcBef>
                <a:spcPts val="0"/>
              </a:spcBef>
              <a:spcAft>
                <a:spcPts val="0"/>
              </a:spcAft>
              <a:buClr>
                <a:srgbClr val="FFFFFF"/>
              </a:buClr>
              <a:buSzPts val="1600"/>
              <a:buFont typeface="Times New Roman"/>
              <a:buChar char="●"/>
            </a:pPr>
            <a:r>
              <a:rPr lang="en" sz="1600" i="1">
                <a:solidFill>
                  <a:srgbClr val="FFFFFF"/>
                </a:solidFill>
                <a:latin typeface="Times New Roman"/>
                <a:ea typeface="Times New Roman"/>
                <a:cs typeface="Times New Roman"/>
                <a:sym typeface="Times New Roman"/>
              </a:rPr>
              <a:t>Transitioning to the methodology of the study and output, the study will examine the usage of social media for promotion and marketing, its effect on key implementation indicators, and practical strategies for enhancing outcomes (</a:t>
            </a:r>
            <a:r>
              <a:rPr lang="en" i="1">
                <a:solidFill>
                  <a:srgbClr val="FFFFFF"/>
                </a:solidFill>
                <a:latin typeface="Times New Roman"/>
                <a:ea typeface="Times New Roman"/>
                <a:cs typeface="Times New Roman"/>
                <a:sym typeface="Times New Roman"/>
              </a:rPr>
              <a:t>Aichner, et al. 2021)(Aljedaani et al. 2022)(Busalim and Ghabban, 2021).</a:t>
            </a:r>
            <a:endParaRPr sz="1600" i="1">
              <a:solidFill>
                <a:srgbClr val="FFFFFF"/>
              </a:solidFill>
              <a:latin typeface="Times New Roman"/>
              <a:ea typeface="Times New Roman"/>
              <a:cs typeface="Times New Roman"/>
              <a:sym typeface="Times New Roman"/>
            </a:endParaRPr>
          </a:p>
        </p:txBody>
      </p:sp>
      <p:pic>
        <p:nvPicPr>
          <p:cNvPr id="88" name="Google Shape;88;p16"/>
          <p:cNvPicPr preferRelativeResize="0"/>
          <p:nvPr/>
        </p:nvPicPr>
        <p:blipFill>
          <a:blip r:embed="rId3">
            <a:alphaModFix/>
          </a:blip>
          <a:stretch>
            <a:fillRect/>
          </a:stretch>
        </p:blipFill>
        <p:spPr>
          <a:xfrm>
            <a:off x="3291825" y="0"/>
            <a:ext cx="5125554" cy="2661750"/>
          </a:xfrm>
          <a:prstGeom prst="rect">
            <a:avLst/>
          </a:prstGeom>
          <a:noFill/>
          <a:ln>
            <a:noFill/>
          </a:ln>
        </p:spPr>
      </p:pic>
      <p:pic>
        <p:nvPicPr>
          <p:cNvPr id="89" name="Google Shape;89;p16"/>
          <p:cNvPicPr preferRelativeResize="0"/>
          <p:nvPr/>
        </p:nvPicPr>
        <p:blipFill>
          <a:blip r:embed="rId4">
            <a:alphaModFix/>
          </a:blip>
          <a:stretch>
            <a:fillRect/>
          </a:stretch>
        </p:blipFill>
        <p:spPr>
          <a:xfrm>
            <a:off x="3291825" y="2571750"/>
            <a:ext cx="5852176" cy="25717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17"/>
          <p:cNvSpPr txBox="1">
            <a:spLocks noGrp="1"/>
          </p:cNvSpPr>
          <p:nvPr>
            <p:ph type="title"/>
          </p:nvPr>
        </p:nvSpPr>
        <p:spPr>
          <a:xfrm>
            <a:off x="226078" y="-92250"/>
            <a:ext cx="2808000" cy="953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Methodology</a:t>
            </a:r>
            <a:endParaRPr/>
          </a:p>
        </p:txBody>
      </p:sp>
      <p:sp>
        <p:nvSpPr>
          <p:cNvPr id="95" name="Google Shape;95;p17"/>
          <p:cNvSpPr txBox="1">
            <a:spLocks noGrp="1"/>
          </p:cNvSpPr>
          <p:nvPr>
            <p:ph type="body" idx="1"/>
          </p:nvPr>
        </p:nvSpPr>
        <p:spPr>
          <a:xfrm>
            <a:off x="64300" y="990000"/>
            <a:ext cx="3124800" cy="4153500"/>
          </a:xfrm>
          <a:prstGeom prst="rect">
            <a:avLst/>
          </a:prstGeom>
        </p:spPr>
        <p:txBody>
          <a:bodyPr spcFirstLastPara="1" wrap="square" lIns="91425" tIns="91425" rIns="91425" bIns="91425" anchor="t" anchorCtr="0">
            <a:noAutofit/>
          </a:bodyPr>
          <a:lstStyle/>
          <a:p>
            <a:pPr marL="285750" lvl="0" indent="-330200" algn="just" rtl="0">
              <a:lnSpc>
                <a:spcPct val="150000"/>
              </a:lnSpc>
              <a:spcBef>
                <a:spcPts val="0"/>
              </a:spcBef>
              <a:spcAft>
                <a:spcPts val="0"/>
              </a:spcAft>
              <a:buClr>
                <a:srgbClr val="FFFFFF"/>
              </a:buClr>
              <a:buSzPts val="1600"/>
              <a:buFont typeface="Times New Roman"/>
              <a:buChar char="●"/>
            </a:pPr>
            <a:r>
              <a:rPr lang="en" sz="1600" b="1" dirty="0">
                <a:solidFill>
                  <a:srgbClr val="FFFFFF"/>
                </a:solidFill>
                <a:latin typeface="Times New Roman"/>
                <a:ea typeface="Times New Roman"/>
                <a:cs typeface="Times New Roman"/>
                <a:sym typeface="Times New Roman"/>
              </a:rPr>
              <a:t>Sentiment Analysis by using TextBlob and machine learning</a:t>
            </a:r>
            <a:endParaRPr sz="1600" b="1" dirty="0">
              <a:solidFill>
                <a:srgbClr val="FFFFFF"/>
              </a:solidFill>
              <a:latin typeface="Times New Roman"/>
              <a:ea typeface="Times New Roman"/>
              <a:cs typeface="Times New Roman"/>
              <a:sym typeface="Times New Roman"/>
            </a:endParaRPr>
          </a:p>
          <a:p>
            <a:pPr marL="285750" lvl="0" indent="-330200" algn="just" rtl="0">
              <a:lnSpc>
                <a:spcPct val="150000"/>
              </a:lnSpc>
              <a:spcBef>
                <a:spcPts val="0"/>
              </a:spcBef>
              <a:spcAft>
                <a:spcPts val="0"/>
              </a:spcAft>
              <a:buClr>
                <a:srgbClr val="FFFFFF"/>
              </a:buClr>
              <a:buSzPts val="1600"/>
              <a:buFont typeface="Times New Roman"/>
              <a:buChar char="●"/>
            </a:pPr>
            <a:r>
              <a:rPr lang="en" sz="1600" b="1" dirty="0">
                <a:solidFill>
                  <a:srgbClr val="FFFFFF"/>
                </a:solidFill>
                <a:latin typeface="Times New Roman"/>
                <a:ea typeface="Times New Roman"/>
                <a:cs typeface="Times New Roman"/>
                <a:sym typeface="Times New Roman"/>
              </a:rPr>
              <a:t>Rule-based sentiment analysis</a:t>
            </a:r>
            <a:endParaRPr sz="1600" b="1" dirty="0">
              <a:solidFill>
                <a:srgbClr val="FFFFFF"/>
              </a:solidFill>
              <a:latin typeface="Times New Roman"/>
              <a:ea typeface="Times New Roman"/>
              <a:cs typeface="Times New Roman"/>
              <a:sym typeface="Times New Roman"/>
            </a:endParaRPr>
          </a:p>
          <a:p>
            <a:pPr marL="285750" lvl="0" indent="-330200" algn="just" rtl="0">
              <a:lnSpc>
                <a:spcPct val="150000"/>
              </a:lnSpc>
              <a:spcBef>
                <a:spcPts val="0"/>
              </a:spcBef>
              <a:spcAft>
                <a:spcPts val="0"/>
              </a:spcAft>
              <a:buClr>
                <a:srgbClr val="FFFFFF"/>
              </a:buClr>
              <a:buSzPts val="1600"/>
              <a:buFont typeface="Times New Roman"/>
              <a:buChar char="●"/>
            </a:pPr>
            <a:r>
              <a:rPr lang="en" sz="1600" b="1" dirty="0">
                <a:solidFill>
                  <a:srgbClr val="FFFFFF"/>
                </a:solidFill>
                <a:latin typeface="Times New Roman"/>
                <a:ea typeface="Times New Roman"/>
                <a:cs typeface="Times New Roman"/>
                <a:sym typeface="Times New Roman"/>
              </a:rPr>
              <a:t>Embedding-based models</a:t>
            </a:r>
            <a:endParaRPr sz="1600" b="1" dirty="0">
              <a:solidFill>
                <a:srgbClr val="FFFFFF"/>
              </a:solidFill>
              <a:latin typeface="Times New Roman"/>
              <a:ea typeface="Times New Roman"/>
              <a:cs typeface="Times New Roman"/>
              <a:sym typeface="Times New Roman"/>
            </a:endParaRPr>
          </a:p>
          <a:p>
            <a:pPr marL="285750" lvl="0" indent="-330200" algn="just" rtl="0">
              <a:lnSpc>
                <a:spcPct val="150000"/>
              </a:lnSpc>
              <a:spcBef>
                <a:spcPts val="0"/>
              </a:spcBef>
              <a:spcAft>
                <a:spcPts val="0"/>
              </a:spcAft>
              <a:buClr>
                <a:srgbClr val="FFFFFF"/>
              </a:buClr>
              <a:buSzPts val="1600"/>
              <a:buFont typeface="Times New Roman"/>
              <a:buChar char="●"/>
            </a:pPr>
            <a:r>
              <a:rPr lang="en" sz="1600" b="1" dirty="0">
                <a:solidFill>
                  <a:srgbClr val="FFFFFF"/>
                </a:solidFill>
                <a:latin typeface="Times New Roman"/>
                <a:ea typeface="Times New Roman"/>
                <a:cs typeface="Times New Roman"/>
                <a:sym typeface="Times New Roman"/>
              </a:rPr>
              <a:t>Pattern-based analysis</a:t>
            </a:r>
            <a:endParaRPr sz="1600" b="1" dirty="0">
              <a:solidFill>
                <a:srgbClr val="FFFFFF"/>
              </a:solidFill>
              <a:latin typeface="Times New Roman"/>
              <a:ea typeface="Times New Roman"/>
              <a:cs typeface="Times New Roman"/>
              <a:sym typeface="Times New Roman"/>
            </a:endParaRPr>
          </a:p>
          <a:p>
            <a:pPr marL="285750" lvl="0" indent="-330200" algn="just" rtl="0">
              <a:lnSpc>
                <a:spcPct val="150000"/>
              </a:lnSpc>
              <a:spcBef>
                <a:spcPts val="0"/>
              </a:spcBef>
              <a:spcAft>
                <a:spcPts val="0"/>
              </a:spcAft>
              <a:buClr>
                <a:srgbClr val="FFFFFF"/>
              </a:buClr>
              <a:buSzPts val="1600"/>
              <a:buFont typeface="Times New Roman"/>
              <a:buChar char="●"/>
            </a:pPr>
            <a:r>
              <a:rPr lang="en" sz="1600" b="1" dirty="0">
                <a:solidFill>
                  <a:srgbClr val="FFFFFF"/>
                </a:solidFill>
                <a:latin typeface="Times New Roman"/>
                <a:ea typeface="Times New Roman"/>
                <a:cs typeface="Times New Roman"/>
                <a:sym typeface="Times New Roman"/>
              </a:rPr>
              <a:t>Sentiment Analyzer</a:t>
            </a:r>
            <a:endParaRPr sz="1600" b="1" dirty="0">
              <a:solidFill>
                <a:srgbClr val="FFFFFF"/>
              </a:solidFill>
              <a:latin typeface="Times New Roman"/>
              <a:ea typeface="Times New Roman"/>
              <a:cs typeface="Times New Roman"/>
              <a:sym typeface="Times New Roman"/>
            </a:endParaRPr>
          </a:p>
        </p:txBody>
      </p:sp>
      <p:pic>
        <p:nvPicPr>
          <p:cNvPr id="96" name="Google Shape;96;p17"/>
          <p:cNvPicPr preferRelativeResize="0"/>
          <p:nvPr/>
        </p:nvPicPr>
        <p:blipFill>
          <a:blip r:embed="rId3">
            <a:alphaModFix/>
          </a:blip>
          <a:stretch>
            <a:fillRect/>
          </a:stretch>
        </p:blipFill>
        <p:spPr>
          <a:xfrm>
            <a:off x="3328650" y="1209676"/>
            <a:ext cx="5650100" cy="1909925"/>
          </a:xfrm>
          <a:prstGeom prst="rect">
            <a:avLst/>
          </a:prstGeom>
          <a:noFill/>
          <a:ln>
            <a:noFill/>
          </a:ln>
        </p:spPr>
      </p:pic>
      <p:pic>
        <p:nvPicPr>
          <p:cNvPr id="97" name="Google Shape;97;p17"/>
          <p:cNvPicPr preferRelativeResize="0"/>
          <p:nvPr/>
        </p:nvPicPr>
        <p:blipFill>
          <a:blip r:embed="rId4">
            <a:alphaModFix/>
          </a:blip>
          <a:stretch>
            <a:fillRect/>
          </a:stretch>
        </p:blipFill>
        <p:spPr>
          <a:xfrm>
            <a:off x="3342450" y="3119600"/>
            <a:ext cx="5712501" cy="1957725"/>
          </a:xfrm>
          <a:prstGeom prst="rect">
            <a:avLst/>
          </a:prstGeom>
          <a:noFill/>
          <a:ln>
            <a:noFill/>
          </a:ln>
        </p:spPr>
      </p:pic>
      <p:pic>
        <p:nvPicPr>
          <p:cNvPr id="98" name="Google Shape;98;p17"/>
          <p:cNvPicPr preferRelativeResize="0"/>
          <p:nvPr/>
        </p:nvPicPr>
        <p:blipFill>
          <a:blip r:embed="rId5">
            <a:alphaModFix/>
          </a:blip>
          <a:stretch>
            <a:fillRect/>
          </a:stretch>
        </p:blipFill>
        <p:spPr>
          <a:xfrm>
            <a:off x="3328650" y="0"/>
            <a:ext cx="5650100" cy="12096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8"/>
          <p:cNvSpPr txBox="1">
            <a:spLocks noGrp="1"/>
          </p:cNvSpPr>
          <p:nvPr>
            <p:ph type="title"/>
          </p:nvPr>
        </p:nvSpPr>
        <p:spPr>
          <a:xfrm>
            <a:off x="222703" y="-285125"/>
            <a:ext cx="2808000" cy="953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Data Analysis </a:t>
            </a:r>
            <a:endParaRPr/>
          </a:p>
        </p:txBody>
      </p:sp>
      <p:sp>
        <p:nvSpPr>
          <p:cNvPr id="104" name="Google Shape;104;p18"/>
          <p:cNvSpPr txBox="1">
            <a:spLocks noGrp="1"/>
          </p:cNvSpPr>
          <p:nvPr>
            <p:ph type="body" idx="1"/>
          </p:nvPr>
        </p:nvSpPr>
        <p:spPr>
          <a:xfrm>
            <a:off x="64300" y="861150"/>
            <a:ext cx="3124800" cy="4282200"/>
          </a:xfrm>
          <a:prstGeom prst="rect">
            <a:avLst/>
          </a:prstGeom>
        </p:spPr>
        <p:txBody>
          <a:bodyPr spcFirstLastPara="1" wrap="square" lIns="91425" tIns="91425" rIns="91425" bIns="91425" anchor="t" anchorCtr="0">
            <a:noAutofit/>
          </a:bodyPr>
          <a:lstStyle/>
          <a:p>
            <a:pPr marL="0" lvl="0" indent="0" algn="just" rtl="0">
              <a:spcBef>
                <a:spcPts val="0"/>
              </a:spcBef>
              <a:spcAft>
                <a:spcPts val="1600"/>
              </a:spcAft>
              <a:buNone/>
            </a:pPr>
            <a:r>
              <a:rPr lang="en" sz="1600" dirty="0">
                <a:solidFill>
                  <a:srgbClr val="FFFFFF"/>
                </a:solidFill>
                <a:latin typeface="Times New Roman"/>
                <a:ea typeface="Times New Roman"/>
                <a:cs typeface="Times New Roman"/>
                <a:sym typeface="Times New Roman"/>
              </a:rPr>
              <a:t>Webscrapping -&gt; cleaning, tokenization, and visualization -&gt; Sentiment analysis by combined and average methods through the pattern and Textblob -&gt;positive and negative words by Subjectivity {0,3} and Polarity {-3,3} -&gt; Visualization the Word Cloud -&gt; Identify the Customer demands.</a:t>
            </a:r>
            <a:endParaRPr sz="2400" dirty="0">
              <a:solidFill>
                <a:srgbClr val="FFFFFF"/>
              </a:solidFill>
              <a:latin typeface="Times New Roman"/>
              <a:ea typeface="Times New Roman"/>
              <a:cs typeface="Times New Roman"/>
              <a:sym typeface="Times New Roman"/>
            </a:endParaRPr>
          </a:p>
        </p:txBody>
      </p:sp>
      <p:pic>
        <p:nvPicPr>
          <p:cNvPr id="105" name="Google Shape;105;p18"/>
          <p:cNvPicPr preferRelativeResize="0"/>
          <p:nvPr/>
        </p:nvPicPr>
        <p:blipFill>
          <a:blip r:embed="rId3">
            <a:alphaModFix/>
          </a:blip>
          <a:stretch>
            <a:fillRect/>
          </a:stretch>
        </p:blipFill>
        <p:spPr>
          <a:xfrm>
            <a:off x="3341500" y="152400"/>
            <a:ext cx="2727824" cy="1493477"/>
          </a:xfrm>
          <a:prstGeom prst="rect">
            <a:avLst/>
          </a:prstGeom>
          <a:noFill/>
          <a:ln>
            <a:noFill/>
          </a:ln>
        </p:spPr>
      </p:pic>
      <p:pic>
        <p:nvPicPr>
          <p:cNvPr id="106" name="Google Shape;106;p18"/>
          <p:cNvPicPr preferRelativeResize="0"/>
          <p:nvPr/>
        </p:nvPicPr>
        <p:blipFill>
          <a:blip r:embed="rId4">
            <a:alphaModFix/>
          </a:blip>
          <a:stretch>
            <a:fillRect/>
          </a:stretch>
        </p:blipFill>
        <p:spPr>
          <a:xfrm>
            <a:off x="6069324" y="152400"/>
            <a:ext cx="2984976" cy="1391125"/>
          </a:xfrm>
          <a:prstGeom prst="rect">
            <a:avLst/>
          </a:prstGeom>
          <a:noFill/>
          <a:ln>
            <a:noFill/>
          </a:ln>
        </p:spPr>
      </p:pic>
      <p:pic>
        <p:nvPicPr>
          <p:cNvPr id="107" name="Google Shape;107;p18"/>
          <p:cNvPicPr preferRelativeResize="0"/>
          <p:nvPr/>
        </p:nvPicPr>
        <p:blipFill>
          <a:blip r:embed="rId5">
            <a:alphaModFix/>
          </a:blip>
          <a:stretch>
            <a:fillRect/>
          </a:stretch>
        </p:blipFill>
        <p:spPr>
          <a:xfrm>
            <a:off x="3427825" y="1755900"/>
            <a:ext cx="2641501" cy="880150"/>
          </a:xfrm>
          <a:prstGeom prst="rect">
            <a:avLst/>
          </a:prstGeom>
          <a:noFill/>
          <a:ln>
            <a:noFill/>
          </a:ln>
        </p:spPr>
      </p:pic>
      <p:pic>
        <p:nvPicPr>
          <p:cNvPr id="108" name="Google Shape;108;p18"/>
          <p:cNvPicPr preferRelativeResize="0"/>
          <p:nvPr/>
        </p:nvPicPr>
        <p:blipFill>
          <a:blip r:embed="rId6">
            <a:alphaModFix/>
          </a:blip>
          <a:stretch>
            <a:fillRect/>
          </a:stretch>
        </p:blipFill>
        <p:spPr>
          <a:xfrm>
            <a:off x="6209000" y="1725900"/>
            <a:ext cx="2727824" cy="880150"/>
          </a:xfrm>
          <a:prstGeom prst="rect">
            <a:avLst/>
          </a:prstGeom>
          <a:noFill/>
          <a:ln>
            <a:noFill/>
          </a:ln>
        </p:spPr>
      </p:pic>
      <p:pic>
        <p:nvPicPr>
          <p:cNvPr id="109" name="Google Shape;109;p18"/>
          <p:cNvPicPr preferRelativeResize="0"/>
          <p:nvPr/>
        </p:nvPicPr>
        <p:blipFill>
          <a:blip r:embed="rId7">
            <a:alphaModFix/>
          </a:blip>
          <a:stretch>
            <a:fillRect/>
          </a:stretch>
        </p:blipFill>
        <p:spPr>
          <a:xfrm>
            <a:off x="3506649" y="2822725"/>
            <a:ext cx="2641501" cy="2232650"/>
          </a:xfrm>
          <a:prstGeom prst="rect">
            <a:avLst/>
          </a:prstGeom>
          <a:noFill/>
          <a:ln>
            <a:noFill/>
          </a:ln>
        </p:spPr>
      </p:pic>
      <p:pic>
        <p:nvPicPr>
          <p:cNvPr id="110" name="Google Shape;110;p18"/>
          <p:cNvPicPr preferRelativeResize="0"/>
          <p:nvPr/>
        </p:nvPicPr>
        <p:blipFill>
          <a:blip r:embed="rId8">
            <a:alphaModFix/>
          </a:blip>
          <a:stretch>
            <a:fillRect/>
          </a:stretch>
        </p:blipFill>
        <p:spPr>
          <a:xfrm>
            <a:off x="6295325" y="2788425"/>
            <a:ext cx="2641501" cy="2168374"/>
          </a:xfrm>
          <a:prstGeom prst="rect">
            <a:avLst/>
          </a:prstGeom>
          <a:noFill/>
          <a:ln>
            <a:noFill/>
          </a:ln>
        </p:spPr>
      </p:pic>
      <p:pic>
        <p:nvPicPr>
          <p:cNvPr id="112" name="Google Shape;112;p18"/>
          <p:cNvPicPr preferRelativeResize="0"/>
          <p:nvPr/>
        </p:nvPicPr>
        <p:blipFill>
          <a:blip r:embed="rId9">
            <a:alphaModFix/>
          </a:blip>
          <a:stretch>
            <a:fillRect/>
          </a:stretch>
        </p:blipFill>
        <p:spPr>
          <a:xfrm>
            <a:off x="78801" y="4348175"/>
            <a:ext cx="3124800" cy="7072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19"/>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Conclusion</a:t>
            </a:r>
            <a:endParaRPr/>
          </a:p>
        </p:txBody>
      </p:sp>
      <p:sp>
        <p:nvSpPr>
          <p:cNvPr id="118" name="Google Shape;118;p19"/>
          <p:cNvSpPr txBox="1">
            <a:spLocks noGrp="1"/>
          </p:cNvSpPr>
          <p:nvPr>
            <p:ph type="body" idx="1"/>
          </p:nvPr>
        </p:nvSpPr>
        <p:spPr>
          <a:xfrm>
            <a:off x="111850" y="1867650"/>
            <a:ext cx="3527100" cy="2710200"/>
          </a:xfrm>
          <a:prstGeom prst="rect">
            <a:avLst/>
          </a:prstGeom>
        </p:spPr>
        <p:txBody>
          <a:bodyPr spcFirstLastPara="1" wrap="square" lIns="91425" tIns="91425" rIns="91425" bIns="91425" anchor="t" anchorCtr="0">
            <a:noAutofit/>
          </a:bodyPr>
          <a:lstStyle/>
          <a:p>
            <a:pPr marL="0" lvl="0" indent="0" algn="just" rtl="0">
              <a:lnSpc>
                <a:spcPct val="150000"/>
              </a:lnSpc>
              <a:spcBef>
                <a:spcPts val="1200"/>
              </a:spcBef>
              <a:spcAft>
                <a:spcPts val="0"/>
              </a:spcAft>
              <a:buNone/>
            </a:pPr>
            <a:r>
              <a:rPr lang="en" dirty="0">
                <a:solidFill>
                  <a:srgbClr val="212121"/>
                </a:solidFill>
                <a:highlight>
                  <a:srgbClr val="FFFFFF"/>
                </a:highlight>
                <a:latin typeface="Times New Roman"/>
                <a:ea typeface="Times New Roman"/>
                <a:cs typeface="Times New Roman"/>
                <a:sym typeface="Times New Roman"/>
              </a:rPr>
              <a:t>Our experiment is best suitable for sentiment analysis by both combined and average methods from predefined Python libraries i.e. textBlob and pattern. Requirements of fulfillment demands by the customer’s satisfaction can be achieved by text blob and pattern analysis for this dataset.</a:t>
            </a:r>
            <a:endParaRPr dirty="0">
              <a:solidFill>
                <a:srgbClr val="212121"/>
              </a:solidFill>
              <a:highlight>
                <a:srgbClr val="FFFFFF"/>
              </a:highlight>
              <a:latin typeface="Times New Roman"/>
              <a:ea typeface="Times New Roman"/>
              <a:cs typeface="Times New Roman"/>
              <a:sym typeface="Times New Roman"/>
            </a:endParaRPr>
          </a:p>
          <a:p>
            <a:pPr marL="0" lvl="0" indent="0" algn="just" rtl="0">
              <a:lnSpc>
                <a:spcPct val="150000"/>
              </a:lnSpc>
              <a:spcBef>
                <a:spcPts val="1200"/>
              </a:spcBef>
              <a:spcAft>
                <a:spcPts val="0"/>
              </a:spcAft>
              <a:buNone/>
            </a:pPr>
            <a:endParaRPr dirty="0">
              <a:solidFill>
                <a:srgbClr val="000000"/>
              </a:solidFill>
              <a:latin typeface="Times New Roman"/>
              <a:ea typeface="Times New Roman"/>
              <a:cs typeface="Times New Roman"/>
              <a:sym typeface="Times New Roman"/>
            </a:endParaRPr>
          </a:p>
          <a:p>
            <a:pPr marL="0" lvl="0" indent="0" algn="l" rtl="0">
              <a:spcBef>
                <a:spcPts val="1200"/>
              </a:spcBef>
              <a:spcAft>
                <a:spcPts val="1600"/>
              </a:spcAft>
              <a:buNone/>
            </a:pPr>
            <a:endParaRPr dirty="0"/>
          </a:p>
        </p:txBody>
      </p:sp>
      <p:pic>
        <p:nvPicPr>
          <p:cNvPr id="119" name="Google Shape;119;p19"/>
          <p:cNvPicPr preferRelativeResize="0"/>
          <p:nvPr/>
        </p:nvPicPr>
        <p:blipFill>
          <a:blip r:embed="rId3">
            <a:alphaModFix/>
          </a:blip>
          <a:stretch>
            <a:fillRect/>
          </a:stretch>
        </p:blipFill>
        <p:spPr>
          <a:xfrm>
            <a:off x="3743250" y="-51225"/>
            <a:ext cx="5400749" cy="2249125"/>
          </a:xfrm>
          <a:prstGeom prst="rect">
            <a:avLst/>
          </a:prstGeom>
          <a:noFill/>
          <a:ln>
            <a:noFill/>
          </a:ln>
        </p:spPr>
      </p:pic>
      <p:pic>
        <p:nvPicPr>
          <p:cNvPr id="3" name="Picture 2" descr="A table with numbers and words&#10;&#10;Description automatically generated">
            <a:extLst>
              <a:ext uri="{FF2B5EF4-FFF2-40B4-BE49-F238E27FC236}">
                <a16:creationId xmlns:a16="http://schemas.microsoft.com/office/drawing/2014/main" id="{82306C6B-13A4-5B1F-EF73-F8764BE1694D}"/>
              </a:ext>
            </a:extLst>
          </p:cNvPr>
          <p:cNvPicPr>
            <a:picLocks noChangeAspect="1"/>
          </p:cNvPicPr>
          <p:nvPr/>
        </p:nvPicPr>
        <p:blipFill>
          <a:blip r:embed="rId4"/>
          <a:stretch>
            <a:fillRect/>
          </a:stretch>
        </p:blipFill>
        <p:spPr>
          <a:xfrm>
            <a:off x="3959678" y="2197900"/>
            <a:ext cx="5072471" cy="27102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20"/>
          <p:cNvSpPr txBox="1">
            <a:spLocks noGrp="1"/>
          </p:cNvSpPr>
          <p:nvPr>
            <p:ph type="title"/>
          </p:nvPr>
        </p:nvSpPr>
        <p:spPr>
          <a:xfrm>
            <a:off x="226077" y="357800"/>
            <a:ext cx="3488673" cy="335695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GB" sz="4800" dirty="0">
                <a:latin typeface="ADLaM Display" panose="020F0502020204030204" pitchFamily="2" charset="0"/>
                <a:ea typeface="ADLaM Display" panose="020F0502020204030204" pitchFamily="2" charset="0"/>
                <a:cs typeface="ADLaM Display" panose="020F0502020204030204" pitchFamily="2" charset="0"/>
              </a:rPr>
              <a:t>THANK </a:t>
            </a:r>
            <a:br>
              <a:rPr lang="en-GB" sz="4800" dirty="0">
                <a:latin typeface="ADLaM Display" panose="020F0502020204030204" pitchFamily="2" charset="0"/>
                <a:ea typeface="ADLaM Display" panose="020F0502020204030204" pitchFamily="2" charset="0"/>
                <a:cs typeface="ADLaM Display" panose="020F0502020204030204" pitchFamily="2" charset="0"/>
              </a:rPr>
            </a:br>
            <a:r>
              <a:rPr lang="en-GB" sz="4800" dirty="0">
                <a:latin typeface="ADLaM Display" panose="020F0502020204030204" pitchFamily="2" charset="0"/>
                <a:ea typeface="ADLaM Display" panose="020F0502020204030204" pitchFamily="2" charset="0"/>
                <a:cs typeface="ADLaM Display" panose="020F0502020204030204" pitchFamily="2" charset="0"/>
              </a:rPr>
              <a:t>YOU</a:t>
            </a:r>
            <a:endParaRPr sz="4800" dirty="0">
              <a:latin typeface="ADLaM Display" panose="020F0502020204030204" pitchFamily="2" charset="0"/>
              <a:ea typeface="ADLaM Display" panose="020F0502020204030204" pitchFamily="2" charset="0"/>
              <a:cs typeface="ADLaM Display" panose="020F0502020204030204" pitchFamily="2" charset="0"/>
            </a:endParaRPr>
          </a:p>
        </p:txBody>
      </p:sp>
      <p:sp>
        <p:nvSpPr>
          <p:cNvPr id="126" name="Google Shape;126;p20"/>
          <p:cNvSpPr txBox="1">
            <a:spLocks noGrp="1"/>
          </p:cNvSpPr>
          <p:nvPr>
            <p:ph type="body" idx="1"/>
          </p:nvPr>
        </p:nvSpPr>
        <p:spPr>
          <a:xfrm>
            <a:off x="226075" y="4400550"/>
            <a:ext cx="2808000" cy="228750"/>
          </a:xfrm>
          <a:prstGeom prst="rect">
            <a:avLst/>
          </a:prstGeom>
        </p:spPr>
        <p:txBody>
          <a:bodyPr spcFirstLastPara="1" wrap="square" lIns="91425" tIns="91425" rIns="91425" bIns="91425" anchor="t" anchorCtr="0">
            <a:noAutofit/>
          </a:bodyPr>
          <a:lstStyle/>
          <a:p>
            <a:pPr marL="0" lvl="0" indent="0" algn="just" rtl="0">
              <a:lnSpc>
                <a:spcPct val="150000"/>
              </a:lnSpc>
              <a:spcBef>
                <a:spcPts val="1200"/>
              </a:spcBef>
              <a:spcAft>
                <a:spcPts val="0"/>
              </a:spcAft>
              <a:buNone/>
            </a:pPr>
            <a:endParaRPr sz="800" dirty="0">
              <a:solidFill>
                <a:srgbClr val="FFFFFF"/>
              </a:solidFill>
              <a:latin typeface="Times New Roman"/>
              <a:ea typeface="Times New Roman"/>
              <a:cs typeface="Times New Roman"/>
              <a:sym typeface="Times New Roman"/>
            </a:endParaRPr>
          </a:p>
          <a:p>
            <a:pPr marL="0" lvl="0" indent="0" algn="l" rtl="0">
              <a:spcBef>
                <a:spcPts val="1200"/>
              </a:spcBef>
              <a:spcAft>
                <a:spcPts val="0"/>
              </a:spcAft>
              <a:buNone/>
            </a:pPr>
            <a:endParaRPr sz="1000" dirty="0">
              <a:solidFill>
                <a:srgbClr val="FFFFFF"/>
              </a:solidFill>
            </a:endParaRPr>
          </a:p>
          <a:p>
            <a:pPr marL="0" lvl="0" indent="0" algn="l" rtl="0">
              <a:spcBef>
                <a:spcPts val="0"/>
              </a:spcBef>
              <a:spcAft>
                <a:spcPts val="0"/>
              </a:spcAft>
              <a:buNone/>
            </a:pPr>
            <a:endParaRPr sz="1000" dirty="0">
              <a:solidFill>
                <a:srgbClr val="FFFFFF"/>
              </a:solidFill>
            </a:endParaRPr>
          </a:p>
          <a:p>
            <a:pPr marL="0" lvl="0" indent="0" algn="l" rtl="0">
              <a:spcBef>
                <a:spcPts val="0"/>
              </a:spcBef>
              <a:spcAft>
                <a:spcPts val="0"/>
              </a:spcAft>
              <a:buNone/>
            </a:pPr>
            <a:r>
              <a:rPr lang="en" sz="1000" dirty="0">
                <a:solidFill>
                  <a:srgbClr val="FFFFFF"/>
                </a:solidFill>
              </a:rPr>
              <a:t> </a:t>
            </a:r>
            <a:r>
              <a:rPr lang="en-GB" sz="1000" dirty="0">
                <a:solidFill>
                  <a:srgbClr val="FFFFFF"/>
                </a:solidFill>
                <a:latin typeface="Perpetua Titling MT" panose="02020502060505020804" pitchFamily="18" charset="0"/>
              </a:rPr>
              <a:t>Thank</a:t>
            </a:r>
            <a:r>
              <a:rPr lang="en" sz="1000" dirty="0">
                <a:solidFill>
                  <a:srgbClr val="FFFFFF"/>
                </a:solidFill>
                <a:latin typeface="Perpetua Titling MT" panose="02020502060505020804" pitchFamily="18" charset="0"/>
              </a:rPr>
              <a:t> you</a:t>
            </a:r>
            <a:endParaRPr sz="1000" dirty="0">
              <a:solidFill>
                <a:srgbClr val="FFFFFF"/>
              </a:solidFill>
            </a:endParaRPr>
          </a:p>
        </p:txBody>
      </p:sp>
    </p:spTree>
  </p:cSld>
  <p:clrMapOvr>
    <a:masterClrMapping/>
  </p:clrMapOvr>
</p:sld>
</file>

<file path=ppt/theme/theme1.xml><?xml version="1.0" encoding="utf-8"?>
<a:theme xmlns:a="http://schemas.openxmlformats.org/drawingml/2006/main"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TotalTime>
  <Words>402</Words>
  <Application>Microsoft Office PowerPoint</Application>
  <PresentationFormat>On-screen Show (16:9)</PresentationFormat>
  <Paragraphs>26</Paragraphs>
  <Slides>8</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Perpetua Titling MT</vt:lpstr>
      <vt:lpstr>Arial</vt:lpstr>
      <vt:lpstr>ADLaM Display</vt:lpstr>
      <vt:lpstr>Times New Roman</vt:lpstr>
      <vt:lpstr>Roboto</vt:lpstr>
      <vt:lpstr>Material</vt:lpstr>
      <vt:lpstr>PREDICTING THE IMPACTS OF BUSINESS ON THE SOCIAL MEDIA</vt:lpstr>
      <vt:lpstr>ABSTRACT</vt:lpstr>
      <vt:lpstr>Aims &amp; Objectives</vt:lpstr>
      <vt:lpstr>Literature Review</vt:lpstr>
      <vt:lpstr>Methodology</vt:lpstr>
      <vt:lpstr>Data Analysis </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PREDICTING THE IMPACTS OF BUSINESS ON THE SOCIAL MEDIA</dc:title>
  <cp:lastModifiedBy>Niharika, Niharika (Student)</cp:lastModifiedBy>
  <cp:revision>3</cp:revision>
  <dcterms:modified xsi:type="dcterms:W3CDTF">2023-09-10T21:46:33Z</dcterms:modified>
</cp:coreProperties>
</file>